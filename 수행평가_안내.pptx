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cbaf801-abac-1527-fd01-76b739a11c84}">
          <p14:sldIdLst>
            <p14:sldId id="256"/>
          </p14:sldIdLst>
        </p14:section>
        <p14:section name="평가 개요" id="{d0448d43-f2e4-7efd-369c-660e19219ee3}">
          <p14:sldIdLst>
            <p14:sldId id="257"/>
            <p14:sldId id="258"/>
          </p14:sldIdLst>
        </p14:section>
        <p14:section name="진행 방법" id="{f7c60dd2-5d70-f722-1604-84c6effc2630}">
          <p14:sldIdLst>
            <p14:sldId id="259"/>
          </p14:sldIdLst>
        </p14:section>
        <p14:section name="평가 기준" id="{b5a2807c-1e4f-4a90-188b-c9e46b68c806}">
          <p14:sldIdLst>
            <p14:sldId id="260"/>
            <p14:sldId id="261"/>
          </p14:sldIdLst>
        </p14:section>
        <p14:section name="유의사항" id="{273c3ed7-fd93-5786-67d7-7d0cd0587c2b}">
          <p14:sldIdLst>
            <p14:sldId id="262"/>
          </p14:sldIdLst>
        </p14:section>
        <p14:section name="마무리" id="{ba5fed97-c9bd-0e49-1a12-c02eba8dbbd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수행평가 전체 안내. 평가 일정과 기준은 학교 계획에 맞게 수정하세요.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6"/>
                </a:solidFill>
              </a:rPr>
              <a:t>2학기 일본어 수행평가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나를 소개해요!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じこしょうかい</a:t>
            </a:r>
            <a:pPr algn="l"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  말하기 평가</a:t>
            </a:r>
            <a:endParaRPr lang="en-US" sz="3000" dirty="0"/>
          </a:p>
        </p:txBody>
      </p:sp>
      <p:sp>
        <p:nvSpPr>
          <p:cNvPr id="5" name="Sun"/>
          <p:cNvSpPr/>
          <p:nvPr/>
        </p:nvSpPr>
        <p:spPr>
          <a:xfrm>
            <a:off x="9326880" y="82296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Footer"/>
          <p:cNvSpPr txBox="1"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2학년 일본어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한눈에 보기</a:t>
            </a:r>
            <a:endParaRPr lang="en-US" sz="4000" dirty="0"/>
          </a:p>
        </p:txBody>
      </p:sp>
      <p:sp>
        <p:nvSpPr>
          <p:cNvPr id="3" name="Stat card 1"/>
          <p:cNvSpPr/>
          <p:nvPr/>
        </p:nvSpPr>
        <p:spPr>
          <a:xfrm>
            <a:off x="548640" y="1737360"/>
            <a:ext cx="3566160" cy="310896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4" name="Stat value 1"/>
          <p:cNvSpPr txBox="1"/>
          <p:nvPr/>
        </p:nvSpPr>
        <p:spPr>
          <a:xfrm>
            <a:off x="548640" y="21031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20%</a:t>
            </a:r>
            <a:endParaRPr lang="en-US" sz="6600" dirty="0"/>
          </a:p>
        </p:txBody>
      </p:sp>
      <p:sp>
        <p:nvSpPr>
          <p:cNvPr id="5" name="Stat label 1"/>
          <p:cNvSpPr txBox="1"/>
          <p:nvPr/>
        </p:nvSpPr>
        <p:spPr>
          <a:xfrm>
            <a:off x="548640" y="3749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</a:rPr>
              <a:t>성적 반영 비율</a:t>
            </a:r>
            <a:endParaRPr lang="en-US" sz="2800" dirty="0"/>
          </a:p>
        </p:txBody>
      </p:sp>
      <p:sp>
        <p:nvSpPr>
          <p:cNvPr id="6" name="Stat card 2"/>
          <p:cNvSpPr/>
          <p:nvPr/>
        </p:nvSpPr>
        <p:spPr>
          <a:xfrm>
            <a:off x="4389120" y="1737360"/>
            <a:ext cx="3566160" cy="310896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7" name="Stat value 2"/>
          <p:cNvSpPr txBox="1"/>
          <p:nvPr/>
        </p:nvSpPr>
        <p:spPr>
          <a:xfrm>
            <a:off x="4389120" y="21031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1분</a:t>
            </a:r>
            <a:endParaRPr lang="en-US" sz="6600" dirty="0"/>
          </a:p>
        </p:txBody>
      </p:sp>
      <p:sp>
        <p:nvSpPr>
          <p:cNvPr id="8" name="Stat label 2"/>
          <p:cNvSpPr txBox="1"/>
          <p:nvPr/>
        </p:nvSpPr>
        <p:spPr>
          <a:xfrm>
            <a:off x="4389120" y="3749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</a:rPr>
              <a:t>발표 시간</a:t>
            </a:r>
            <a:endParaRPr lang="en-US" sz="2800" dirty="0"/>
          </a:p>
        </p:txBody>
      </p:sp>
      <p:sp>
        <p:nvSpPr>
          <p:cNvPr id="9" name="Stat card 3"/>
          <p:cNvSpPr/>
          <p:nvPr/>
        </p:nvSpPr>
        <p:spPr>
          <a:xfrm>
            <a:off x="8229600" y="1737360"/>
            <a:ext cx="3566160" cy="310896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0" name="Stat value 3"/>
          <p:cNvSpPr txBox="1"/>
          <p:nvPr/>
        </p:nvSpPr>
        <p:spPr>
          <a:xfrm>
            <a:off x="8229600" y="21031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11월</a:t>
            </a:r>
            <a:endParaRPr lang="en-US" sz="6600" dirty="0"/>
          </a:p>
        </p:txBody>
      </p:sp>
      <p:sp>
        <p:nvSpPr>
          <p:cNvPr id="11" name="Stat label 3"/>
          <p:cNvSpPr txBox="1"/>
          <p:nvPr/>
        </p:nvSpPr>
        <p:spPr>
          <a:xfrm>
            <a:off x="8229600" y="3749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</a:rPr>
              <a:t>평가 시기</a:t>
            </a:r>
            <a:endParaRPr lang="en-US" sz="2800" dirty="0"/>
          </a:p>
        </p:txBody>
      </p:sp>
      <p:sp>
        <p:nvSpPr>
          <p:cNvPr id="12" name="Summary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일본어로 1분 동안 자기소개를 하고, 원고 없이 발표해요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발표에 꼭 들어가야 할 4가지</a:t>
            </a:r>
            <a:endParaRPr lang="en-US" sz="4000" dirty="0"/>
          </a:p>
        </p:txBody>
      </p:sp>
      <p:sp>
        <p:nvSpPr>
          <p:cNvPr id="3" name="Item card 1"/>
          <p:cNvSpPr/>
          <p:nvPr/>
        </p:nvSpPr>
        <p:spPr>
          <a:xfrm>
            <a:off x="548640" y="1691640"/>
            <a:ext cx="53949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4" name="Item circle 1"/>
          <p:cNvSpPr/>
          <p:nvPr/>
        </p:nvSpPr>
        <p:spPr>
          <a:xfrm>
            <a:off x="868680" y="21488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tem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377440"/>
            <a:ext cx="594360" cy="594360"/>
          </a:xfrm>
          <a:prstGeom prst="rect">
            <a:avLst/>
          </a:prstGeom>
        </p:spPr>
      </p:pic>
      <p:sp>
        <p:nvSpPr>
          <p:cNvPr id="6" name="Item head 1"/>
          <p:cNvSpPr txBox="1"/>
          <p:nvPr/>
        </p:nvSpPr>
        <p:spPr>
          <a:xfrm>
            <a:off x="2194560" y="1965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이름</a:t>
            </a:r>
            <a:endParaRPr lang="en-US" sz="3200" dirty="0"/>
          </a:p>
        </p:txBody>
      </p:sp>
      <p:sp>
        <p:nvSpPr>
          <p:cNvPr id="7" name="Item jp 1"/>
          <p:cNvSpPr txBox="1"/>
          <p:nvPr/>
        </p:nvSpPr>
        <p:spPr>
          <a:xfrm>
            <a:off x="2194560" y="26974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はじめまして。〇〇です。</a:t>
            </a:r>
            <a:endParaRPr lang="en-US" sz="2200" dirty="0"/>
          </a:p>
        </p:txBody>
      </p:sp>
      <p:sp>
        <p:nvSpPr>
          <p:cNvPr id="8" name="Item card 2"/>
          <p:cNvSpPr/>
          <p:nvPr/>
        </p:nvSpPr>
        <p:spPr>
          <a:xfrm>
            <a:off x="6217920" y="1691640"/>
            <a:ext cx="53949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9" name="Item circle 2"/>
          <p:cNvSpPr/>
          <p:nvPr/>
        </p:nvSpPr>
        <p:spPr>
          <a:xfrm>
            <a:off x="6537960" y="21488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tem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377440"/>
            <a:ext cx="594360" cy="594360"/>
          </a:xfrm>
          <a:prstGeom prst="rect">
            <a:avLst/>
          </a:prstGeom>
        </p:spPr>
      </p:pic>
      <p:sp>
        <p:nvSpPr>
          <p:cNvPr id="11" name="Item head 2"/>
          <p:cNvSpPr txBox="1"/>
          <p:nvPr/>
        </p:nvSpPr>
        <p:spPr>
          <a:xfrm>
            <a:off x="7863840" y="1965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학년</a:t>
            </a:r>
            <a:endParaRPr lang="en-US" sz="3200" dirty="0"/>
          </a:p>
        </p:txBody>
      </p:sp>
      <p:sp>
        <p:nvSpPr>
          <p:cNvPr id="12" name="Item jp 2"/>
          <p:cNvSpPr txBox="1"/>
          <p:nvPr/>
        </p:nvSpPr>
        <p:spPr>
          <a:xfrm>
            <a:off x="7863840" y="26974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中学2年生です。</a:t>
            </a:r>
            <a:endParaRPr lang="en-US" sz="2200" dirty="0"/>
          </a:p>
        </p:txBody>
      </p:sp>
      <p:sp>
        <p:nvSpPr>
          <p:cNvPr id="13" name="Item card 3"/>
          <p:cNvSpPr/>
          <p:nvPr/>
        </p:nvSpPr>
        <p:spPr>
          <a:xfrm>
            <a:off x="548640" y="3931920"/>
            <a:ext cx="53949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4" name="Item circle 3"/>
          <p:cNvSpPr/>
          <p:nvPr/>
        </p:nvSpPr>
        <p:spPr>
          <a:xfrm>
            <a:off x="868680" y="438912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tem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17720"/>
            <a:ext cx="594360" cy="594360"/>
          </a:xfrm>
          <a:prstGeom prst="rect">
            <a:avLst/>
          </a:prstGeom>
        </p:spPr>
      </p:pic>
      <p:sp>
        <p:nvSpPr>
          <p:cNvPr id="16" name="Item head 3"/>
          <p:cNvSpPr txBox="1"/>
          <p:nvPr/>
        </p:nvSpPr>
        <p:spPr>
          <a:xfrm>
            <a:off x="2194560" y="4206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좋아하는 것</a:t>
            </a:r>
            <a:endParaRPr lang="en-US" sz="3200" dirty="0"/>
          </a:p>
        </p:txBody>
      </p:sp>
      <p:sp>
        <p:nvSpPr>
          <p:cNvPr id="17" name="Item jp 3"/>
          <p:cNvSpPr txBox="1"/>
          <p:nvPr/>
        </p:nvSpPr>
        <p:spPr>
          <a:xfrm>
            <a:off x="2194560" y="49377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〇〇が好きです。</a:t>
            </a:r>
            <a:endParaRPr lang="en-US" sz="2200" dirty="0"/>
          </a:p>
        </p:txBody>
      </p:sp>
      <p:sp>
        <p:nvSpPr>
          <p:cNvPr id="18" name="Item card 4"/>
          <p:cNvSpPr/>
          <p:nvPr/>
        </p:nvSpPr>
        <p:spPr>
          <a:xfrm>
            <a:off x="6217920" y="3931920"/>
            <a:ext cx="5394960" cy="1965960"/>
          </a:xfrm>
          <a:prstGeom prst="roundRect">
            <a:avLst>
              <a:gd name="adj" fmla="val 6977"/>
            </a:avLst>
          </a:prstGeom>
          <a:solidFill>
            <a:schemeClr val="bg2"/>
          </a:solidFill>
          <a:ln/>
        </p:spPr>
      </p:sp>
      <p:sp>
        <p:nvSpPr>
          <p:cNvPr id="19" name="Item circle 4"/>
          <p:cNvSpPr/>
          <p:nvPr/>
        </p:nvSpPr>
        <p:spPr>
          <a:xfrm>
            <a:off x="6537960" y="438912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tem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617720"/>
            <a:ext cx="594360" cy="594360"/>
          </a:xfrm>
          <a:prstGeom prst="rect">
            <a:avLst/>
          </a:prstGeom>
        </p:spPr>
      </p:pic>
      <p:sp>
        <p:nvSpPr>
          <p:cNvPr id="21" name="Item head 4"/>
          <p:cNvSpPr txBox="1"/>
          <p:nvPr/>
        </p:nvSpPr>
        <p:spPr>
          <a:xfrm>
            <a:off x="7863840" y="4206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마무리 인사</a:t>
            </a:r>
            <a:endParaRPr lang="en-US" sz="3200" dirty="0"/>
          </a:p>
        </p:txBody>
      </p:sp>
      <p:sp>
        <p:nvSpPr>
          <p:cNvPr id="22" name="Item jp 4"/>
          <p:cNvSpPr txBox="1"/>
          <p:nvPr/>
        </p:nvSpPr>
        <p:spPr>
          <a:xfrm>
            <a:off x="7863840" y="493776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よろしくお願いします。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이렇게 진행해요</a:t>
            </a:r>
            <a:endParaRPr lang="en-US" sz="4000" dirty="0"/>
          </a:p>
        </p:txBody>
      </p:sp>
      <p:sp>
        <p:nvSpPr>
          <p:cNvPr id="3" name="Step circle 1"/>
          <p:cNvSpPr/>
          <p:nvPr/>
        </p:nvSpPr>
        <p:spPr>
          <a:xfrm>
            <a:off x="1280160" y="201168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" name="Step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331720"/>
            <a:ext cx="731520" cy="731520"/>
          </a:xfrm>
          <a:prstGeom prst="rect">
            <a:avLst/>
          </a:prstGeom>
        </p:spPr>
      </p:pic>
      <p:sp>
        <p:nvSpPr>
          <p:cNvPr id="5" name="Arrow 1"/>
          <p:cNvSpPr/>
          <p:nvPr/>
        </p:nvSpPr>
        <p:spPr>
          <a:xfrm rot="5400000">
            <a:off x="3063240" y="2514600"/>
            <a:ext cx="365760" cy="36576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6" name="Step num 1"/>
          <p:cNvSpPr txBox="1"/>
          <p:nvPr/>
        </p:nvSpPr>
        <p:spPr>
          <a:xfrm>
            <a:off x="54864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1단계</a:t>
            </a:r>
            <a:endParaRPr lang="en-US" sz="2200" dirty="0"/>
          </a:p>
        </p:txBody>
      </p:sp>
      <p:sp>
        <p:nvSpPr>
          <p:cNvPr id="7" name="Step head 1"/>
          <p:cNvSpPr txBox="1"/>
          <p:nvPr/>
        </p:nvSpPr>
        <p:spPr>
          <a:xfrm>
            <a:off x="548640" y="4069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원고 쓰기</a:t>
            </a:r>
            <a:endParaRPr lang="en-US" sz="3200" dirty="0"/>
          </a:p>
        </p:txBody>
      </p:sp>
      <p:sp>
        <p:nvSpPr>
          <p:cNvPr id="8" name="Step desc 1"/>
          <p:cNvSpPr txBox="1"/>
          <p:nvPr/>
        </p:nvSpPr>
        <p:spPr>
          <a:xfrm>
            <a:off x="548640" y="4846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수업 시간에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일본어로 작성</a:t>
            </a:r>
            <a:endParaRPr lang="en-US" sz="2400" dirty="0"/>
          </a:p>
        </p:txBody>
      </p:sp>
      <p:sp>
        <p:nvSpPr>
          <p:cNvPr id="9" name="Step circle 2"/>
          <p:cNvSpPr/>
          <p:nvPr/>
        </p:nvSpPr>
        <p:spPr>
          <a:xfrm>
            <a:off x="4160520" y="201168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Step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331720"/>
            <a:ext cx="731520" cy="731520"/>
          </a:xfrm>
          <a:prstGeom prst="rect">
            <a:avLst/>
          </a:prstGeom>
        </p:spPr>
      </p:pic>
      <p:sp>
        <p:nvSpPr>
          <p:cNvPr id="11" name="Arrow 2"/>
          <p:cNvSpPr/>
          <p:nvPr/>
        </p:nvSpPr>
        <p:spPr>
          <a:xfrm rot="5400000">
            <a:off x="5943600" y="2514600"/>
            <a:ext cx="365760" cy="36576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2" name="Step num 2"/>
          <p:cNvSpPr txBox="1"/>
          <p:nvPr/>
        </p:nvSpPr>
        <p:spPr>
          <a:xfrm>
            <a:off x="342900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2단계</a:t>
            </a:r>
            <a:endParaRPr lang="en-US" sz="2200" dirty="0"/>
          </a:p>
        </p:txBody>
      </p:sp>
      <p:sp>
        <p:nvSpPr>
          <p:cNvPr id="13" name="Step head 2"/>
          <p:cNvSpPr txBox="1"/>
          <p:nvPr/>
        </p:nvSpPr>
        <p:spPr>
          <a:xfrm>
            <a:off x="3429000" y="4069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피드백</a:t>
            </a:r>
            <a:endParaRPr lang="en-US" sz="3200" dirty="0"/>
          </a:p>
        </p:txBody>
      </p:sp>
      <p:sp>
        <p:nvSpPr>
          <p:cNvPr id="14" name="Step desc 2"/>
          <p:cNvSpPr txBox="1"/>
          <p:nvPr/>
        </p:nvSpPr>
        <p:spPr>
          <a:xfrm>
            <a:off x="3429000" y="4846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선생님께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원고 점검받기</a:t>
            </a:r>
            <a:endParaRPr lang="en-US" sz="2400" dirty="0"/>
          </a:p>
        </p:txBody>
      </p:sp>
      <p:sp>
        <p:nvSpPr>
          <p:cNvPr id="15" name="Step circle 3"/>
          <p:cNvSpPr/>
          <p:nvPr/>
        </p:nvSpPr>
        <p:spPr>
          <a:xfrm>
            <a:off x="7040880" y="2011680"/>
            <a:ext cx="1371600" cy="13716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Step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331720"/>
            <a:ext cx="731520" cy="731520"/>
          </a:xfrm>
          <a:prstGeom prst="rect">
            <a:avLst/>
          </a:prstGeom>
        </p:spPr>
      </p:pic>
      <p:sp>
        <p:nvSpPr>
          <p:cNvPr id="17" name="Arrow 3"/>
          <p:cNvSpPr/>
          <p:nvPr/>
        </p:nvSpPr>
        <p:spPr>
          <a:xfrm rot="5400000">
            <a:off x="8823960" y="2514600"/>
            <a:ext cx="365760" cy="365760"/>
          </a:xfrm>
          <a:prstGeom prst="triangle">
            <a:avLst/>
          </a:prstGeom>
          <a:solidFill>
            <a:schemeClr val="accent5"/>
          </a:solidFill>
          <a:ln/>
        </p:spPr>
      </p:sp>
      <p:sp>
        <p:nvSpPr>
          <p:cNvPr id="18" name="Step num 3"/>
          <p:cNvSpPr txBox="1"/>
          <p:nvPr/>
        </p:nvSpPr>
        <p:spPr>
          <a:xfrm>
            <a:off x="630936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3단계</a:t>
            </a:r>
            <a:endParaRPr lang="en-US" sz="2200" dirty="0"/>
          </a:p>
        </p:txBody>
      </p:sp>
      <p:sp>
        <p:nvSpPr>
          <p:cNvPr id="19" name="Step head 3"/>
          <p:cNvSpPr txBox="1"/>
          <p:nvPr/>
        </p:nvSpPr>
        <p:spPr>
          <a:xfrm>
            <a:off x="6309360" y="4069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연습하기</a:t>
            </a:r>
            <a:endParaRPr lang="en-US" sz="3200" dirty="0"/>
          </a:p>
        </p:txBody>
      </p:sp>
      <p:sp>
        <p:nvSpPr>
          <p:cNvPr id="20" name="Step desc 3"/>
          <p:cNvSpPr txBox="1"/>
          <p:nvPr/>
        </p:nvSpPr>
        <p:spPr>
          <a:xfrm>
            <a:off x="6309360" y="4846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외워서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소리 내어 연습</a:t>
            </a:r>
            <a:endParaRPr lang="en-US" sz="2400" dirty="0"/>
          </a:p>
        </p:txBody>
      </p:sp>
      <p:sp>
        <p:nvSpPr>
          <p:cNvPr id="21" name="Step circle 4"/>
          <p:cNvSpPr/>
          <p:nvPr/>
        </p:nvSpPr>
        <p:spPr>
          <a:xfrm>
            <a:off x="9921240" y="201168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Step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2331720"/>
            <a:ext cx="731520" cy="731520"/>
          </a:xfrm>
          <a:prstGeom prst="rect">
            <a:avLst/>
          </a:prstGeom>
        </p:spPr>
      </p:pic>
      <p:sp>
        <p:nvSpPr>
          <p:cNvPr id="23" name="Step num 4"/>
          <p:cNvSpPr txBox="1"/>
          <p:nvPr/>
        </p:nvSpPr>
        <p:spPr>
          <a:xfrm>
            <a:off x="918972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4단계</a:t>
            </a:r>
            <a:endParaRPr lang="en-US" sz="2200" dirty="0"/>
          </a:p>
        </p:txBody>
      </p:sp>
      <p:sp>
        <p:nvSpPr>
          <p:cNvPr id="24" name="Step head 4"/>
          <p:cNvSpPr txBox="1"/>
          <p:nvPr/>
        </p:nvSpPr>
        <p:spPr>
          <a:xfrm>
            <a:off x="9189720" y="40690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발표하기</a:t>
            </a:r>
            <a:endParaRPr lang="en-US" sz="3200" dirty="0"/>
          </a:p>
        </p:txBody>
      </p:sp>
      <p:sp>
        <p:nvSpPr>
          <p:cNvPr id="25" name="Step desc 4"/>
          <p:cNvSpPr txBox="1"/>
          <p:nvPr/>
        </p:nvSpPr>
        <p:spPr>
          <a:xfrm>
            <a:off x="9189720" y="4846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앞에 나와서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1분 발표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평가 기준 (20점 만점)</a:t>
            </a:r>
            <a:endParaRPr lang="en-US" sz="4000" dirty="0"/>
          </a:p>
        </p:txBody>
      </p:sp>
      <p:graphicFrame>
        <p:nvGraphicFramePr>
          <p:cNvPr id="6" name="Rubric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92240"/>
                <a:gridCol w="1828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bg1"/>
                          </a:solidFill>
                        </a:rPr>
                        <a:t>영역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bg1"/>
                          </a:solidFill>
                        </a:rPr>
                        <a:t>이런 점을 봐요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bg1"/>
                          </a:solidFill>
                        </a:rPr>
                        <a:t>배점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tx1"/>
                          </a:solidFill>
                        </a:rPr>
                        <a:t>내용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chemeClr val="tx1"/>
                          </a:solidFill>
                        </a:rPr>
                        <a:t>4가지 내용이 모두 들어 있나요?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</a:rPr>
                        <a:t>8점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tx1"/>
                          </a:solidFill>
                        </a:rPr>
                        <a:t>발음 · 유창성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chemeClr val="tx1"/>
                          </a:solidFill>
                        </a:rPr>
                        <a:t>정확한 발음으로 자연스럽게 말하나요?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</a:rPr>
                        <a:t>6점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tx1"/>
                          </a:solidFill>
                        </a:rPr>
                        <a:t>태도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chemeClr val="tx1"/>
                          </a:solidFill>
                        </a:rPr>
                        <a:t>원고 없이, 큰 목소리로 발표하나요?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</a:rPr>
                        <a:t>4점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tx1"/>
                          </a:solidFill>
                        </a:rPr>
                        <a:t>시간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chemeClr val="tx1"/>
                          </a:solidFill>
                        </a:rPr>
                        <a:t>1분(±10초) 안에 발표를 마치나요?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600" b="1" dirty="0">
                          <a:solidFill>
                            <a:schemeClr val="accent1"/>
                          </a:solidFill>
                        </a:rPr>
                        <a:t>2점</a:t>
                      </a:r>
                      <a:endParaRPr lang="en-US" sz="2600" dirty="0"/>
                    </a:p>
                  </a:txBody>
                  <a:tcPr marL="182880" marR="182880" marT="0" marB="0" anchor="ctr">
                    <a:lnL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예시 원고</a:t>
            </a:r>
            <a:endParaRPr lang="en-US" sz="4000" dirty="0"/>
          </a:p>
        </p:txBody>
      </p:sp>
      <p:sp>
        <p:nvSpPr>
          <p:cNvPr id="3" name="Script card"/>
          <p:cNvSpPr/>
          <p:nvPr/>
        </p:nvSpPr>
        <p:spPr>
          <a:xfrm>
            <a:off x="548640" y="1600200"/>
            <a:ext cx="11064240" cy="452628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4" name="Script jp 1"/>
          <p:cNvSpPr txBox="1"/>
          <p:nvPr/>
        </p:nvSpPr>
        <p:spPr>
          <a:xfrm>
            <a:off x="91440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はじめまして。キム・ミンジュです。</a:t>
            </a:r>
            <a:endParaRPr lang="en-US" sz="3000" dirty="0"/>
          </a:p>
        </p:txBody>
      </p:sp>
      <p:sp>
        <p:nvSpPr>
          <p:cNvPr id="5" name="Script ko 1"/>
          <p:cNvSpPr txBox="1"/>
          <p:nvPr/>
        </p:nvSpPr>
        <p:spPr>
          <a:xfrm>
            <a:off x="914400" y="23317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처음 뵙겠습니다. 김민주입니다.</a:t>
            </a:r>
            <a:endParaRPr lang="en-US" sz="2000" dirty="0"/>
          </a:p>
        </p:txBody>
      </p:sp>
      <p:sp>
        <p:nvSpPr>
          <p:cNvPr id="6" name="Script jp 2"/>
          <p:cNvSpPr txBox="1"/>
          <p:nvPr/>
        </p:nvSpPr>
        <p:spPr>
          <a:xfrm>
            <a:off x="914400" y="286207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中学2年生です。14さいです。</a:t>
            </a:r>
            <a:endParaRPr lang="en-US" sz="3000" dirty="0"/>
          </a:p>
        </p:txBody>
      </p:sp>
      <p:sp>
        <p:nvSpPr>
          <p:cNvPr id="7" name="Script ko 2"/>
          <p:cNvSpPr txBox="1"/>
          <p:nvPr/>
        </p:nvSpPr>
        <p:spPr>
          <a:xfrm>
            <a:off x="914400" y="341071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중학교 2학년입니다. 14살입니다.</a:t>
            </a:r>
            <a:endParaRPr lang="en-US" sz="2000" dirty="0"/>
          </a:p>
        </p:txBody>
      </p:sp>
      <p:sp>
        <p:nvSpPr>
          <p:cNvPr id="8" name="Script jp 3"/>
          <p:cNvSpPr txBox="1"/>
          <p:nvPr/>
        </p:nvSpPr>
        <p:spPr>
          <a:xfrm>
            <a:off x="914400" y="394106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わたしは ねこが 好きです。</a:t>
            </a:r>
            <a:endParaRPr lang="en-US" sz="3000" dirty="0"/>
          </a:p>
        </p:txBody>
      </p:sp>
      <p:sp>
        <p:nvSpPr>
          <p:cNvPr id="9" name="Script ko 3"/>
          <p:cNvSpPr txBox="1"/>
          <p:nvPr/>
        </p:nvSpPr>
        <p:spPr>
          <a:xfrm>
            <a:off x="914400" y="448970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저는 고양이를 좋아합니다.</a:t>
            </a:r>
            <a:endParaRPr lang="en-US" sz="2000" dirty="0"/>
          </a:p>
        </p:txBody>
      </p:sp>
      <p:sp>
        <p:nvSpPr>
          <p:cNvPr id="10" name="Script jp 4"/>
          <p:cNvSpPr txBox="1"/>
          <p:nvPr/>
        </p:nvSpPr>
        <p:spPr>
          <a:xfrm>
            <a:off x="914400" y="502005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どうぞ よろしく おねがいします。</a:t>
            </a:r>
            <a:endParaRPr lang="en-US" sz="3000" dirty="0"/>
          </a:p>
        </p:txBody>
      </p:sp>
      <p:sp>
        <p:nvSpPr>
          <p:cNvPr id="11" name="Script ko 4"/>
          <p:cNvSpPr txBox="1"/>
          <p:nvPr/>
        </p:nvSpPr>
        <p:spPr>
          <a:xfrm>
            <a:off x="914400" y="556869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잘 부탁드립니다.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꼭 기억하세요</a:t>
            </a:r>
            <a:endParaRPr lang="en-US" sz="4000" dirty="0"/>
          </a:p>
        </p:txBody>
      </p:sp>
      <p:sp>
        <p:nvSpPr>
          <p:cNvPr id="3" name="Tips card"/>
          <p:cNvSpPr/>
          <p:nvPr/>
        </p:nvSpPr>
        <p:spPr>
          <a:xfrm>
            <a:off x="548640" y="1600200"/>
            <a:ext cx="5394960" cy="4206240"/>
          </a:xfrm>
          <a:prstGeom prst="roundRect">
            <a:avLst>
              <a:gd name="adj" fmla="val 3261"/>
            </a:avLst>
          </a:prstGeom>
          <a:solidFill>
            <a:schemeClr val="bg2"/>
          </a:solidFill>
          <a:ln/>
        </p:spPr>
      </p:sp>
      <p:sp>
        <p:nvSpPr>
          <p:cNvPr id="4" name="Tips circle"/>
          <p:cNvSpPr/>
          <p:nvPr/>
        </p:nvSpPr>
        <p:spPr>
          <a:xfrm>
            <a:off x="914400" y="1874520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Ti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57400"/>
            <a:ext cx="365760" cy="365760"/>
          </a:xfrm>
          <a:prstGeom prst="rect">
            <a:avLst/>
          </a:prstGeom>
        </p:spPr>
      </p:pic>
      <p:sp>
        <p:nvSpPr>
          <p:cNvPr id="6" name="Tips title"/>
          <p:cNvSpPr txBox="1"/>
          <p:nvPr/>
        </p:nvSpPr>
        <p:spPr>
          <a:xfrm>
            <a:off x="1828800" y="18745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</a:rPr>
              <a:t>이렇게 하면 좋아요</a:t>
            </a:r>
            <a:endParaRPr lang="en-US" sz="3000" dirty="0"/>
          </a:p>
        </p:txBody>
      </p:sp>
      <p:sp>
        <p:nvSpPr>
          <p:cNvPr id="7" name="Tips list"/>
          <p:cNvSpPr txBox="1"/>
          <p:nvPr/>
        </p:nvSpPr>
        <p:spPr>
          <a:xfrm>
            <a:off x="914400" y="28803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천천히, 또박또박 말하기</a:t>
            </a:r>
            <a:endParaRPr lang="en-US" sz="28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친구들 얼굴 보며 말하기</a:t>
            </a:r>
            <a:endParaRPr lang="en-US" sz="28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집에서 거울 보고 연습하기</a:t>
            </a:r>
            <a:endParaRPr lang="en-US" sz="2800" dirty="0"/>
          </a:p>
        </p:txBody>
      </p:sp>
      <p:sp>
        <p:nvSpPr>
          <p:cNvPr id="8" name="Warn card"/>
          <p:cNvSpPr/>
          <p:nvPr/>
        </p:nvSpPr>
        <p:spPr>
          <a:xfrm>
            <a:off x="6217920" y="1600200"/>
            <a:ext cx="5394960" cy="4206240"/>
          </a:xfrm>
          <a:prstGeom prst="roundRect">
            <a:avLst>
              <a:gd name="adj" fmla="val 3261"/>
            </a:avLst>
          </a:prstGeom>
          <a:solidFill>
            <a:schemeClr val="bg2"/>
          </a:solidFill>
          <a:ln/>
        </p:spPr>
      </p:sp>
      <p:sp>
        <p:nvSpPr>
          <p:cNvPr id="9" name="Warn circle"/>
          <p:cNvSpPr/>
          <p:nvPr/>
        </p:nvSpPr>
        <p:spPr>
          <a:xfrm>
            <a:off x="6583680" y="1874520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War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057400"/>
            <a:ext cx="365760" cy="365760"/>
          </a:xfrm>
          <a:prstGeom prst="rect">
            <a:avLst/>
          </a:prstGeom>
        </p:spPr>
      </p:pic>
      <p:sp>
        <p:nvSpPr>
          <p:cNvPr id="11" name="Warn title"/>
          <p:cNvSpPr txBox="1"/>
          <p:nvPr/>
        </p:nvSpPr>
        <p:spPr>
          <a:xfrm>
            <a:off x="7498080" y="18745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주의하세요</a:t>
            </a:r>
            <a:endParaRPr lang="en-US" sz="3000" dirty="0"/>
          </a:p>
        </p:txBody>
      </p:sp>
      <p:sp>
        <p:nvSpPr>
          <p:cNvPr id="12" name="Warn list"/>
          <p:cNvSpPr txBox="1"/>
          <p:nvPr/>
        </p:nvSpPr>
        <p:spPr>
          <a:xfrm>
            <a:off x="6583680" y="28803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원고를 보면 태도 점수 감점</a:t>
            </a:r>
            <a:endParaRPr lang="en-US" sz="28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결석 시 추후 재평가</a:t>
            </a:r>
            <a:endParaRPr lang="en-US" sz="2800" dirty="0"/>
          </a:p>
          <a:p>
            <a:pPr marL="342900" indent="-342900">
              <a:spcAft>
                <a:spcPts val="2000"/>
              </a:spcAft>
              <a:buSzPct val="100000"/>
              <a:buChar char="•"/>
            </a:pPr>
            <a:r>
              <a:rPr lang="en-US" sz="2800" dirty="0">
                <a:solidFill>
                  <a:schemeClr val="tx1"/>
                </a:solidFill>
              </a:rPr>
              <a:t>번역기로 쓴 원고는 0점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がんばってください！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3"/>
                </a:solidFill>
              </a:rPr>
              <a:t>궁금한 점은 언제든지 선생님께 물어보세요</a:t>
            </a:r>
            <a:endParaRPr lang="en-US" sz="3000" dirty="0"/>
          </a:p>
        </p:txBody>
      </p:sp>
      <p:pic>
        <p:nvPicPr>
          <p:cNvPr id="4" name="St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91440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Japanese Assessment">
  <a:themeElements>
    <a:clrScheme name="Japanese Assessment">
      <a:dk1>
        <a:srgbClr val="1E1E24"/>
      </a:dk1>
      <a:lt1>
        <a:srgbClr val="FFFFFF"/>
      </a:lt1>
      <a:dk2>
        <a:srgbClr val="1F2D4F"/>
      </a:dk2>
      <a:lt2>
        <a:srgbClr val="F3F5FA"/>
      </a:lt2>
      <a:accent1>
        <a:srgbClr val="D9472B"/>
      </a:accent1>
      <a:accent2>
        <a:srgbClr val="1F2D4F"/>
      </a:accent2>
      <a:accent3>
        <a:srgbClr val="F2B544"/>
      </a:accent3>
      <a:accent4>
        <a:srgbClr val="3A8F6B"/>
      </a:accent4>
      <a:accent5>
        <a:srgbClr val="6B7A99"/>
      </a:accent5>
      <a:accent6>
        <a:srgbClr val="FBE7E2"/>
      </a:accent6>
      <a:hlink>
        <a:srgbClr val="D9472B"/>
      </a:hlink>
      <a:folHlink>
        <a:srgbClr val="6B7A99"/>
      </a:folHlink>
    </a:clrScheme>
    <a:fontScheme name="Japanese Assessment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일본어 수행평가 안내</dc:title>
  <dc:subject>PptxGenJS Presentation</dc:subject>
  <dc:creator>PptxGenJS</dc:creator>
  <cp:lastModifiedBy>PptxGenJS</cp:lastModifiedBy>
  <cp:revision>1</cp:revision>
  <dcterms:created xsi:type="dcterms:W3CDTF">2026-10-14T00:54:42Z</dcterms:created>
  <dcterms:modified xsi:type="dcterms:W3CDTF">2026-10-14T00:54:42Z</dcterms:modified>
</cp:coreProperties>
</file>