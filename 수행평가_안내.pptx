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816b477a-2b11-9cbd-35c3-952cfc58f339}">
          <p14:sldIdLst>
            <p14:sldId id="256"/>
          </p14:sldIdLst>
        </p14:section>
        <p14:section name="평가 개요" id="{c80f311d-9e3b-f57a-8d0e-998409530e2d}">
          <p14:sldIdLst>
            <p14:sldId id="257"/>
            <p14:sldId id="258"/>
            <p14:sldId id="259"/>
          </p14:sldIdLst>
        </p14:section>
        <p14:section name="작성 규칙" id="{37b4cd18-78e8-1cbe-28a2-22f6086bc2e4}">
          <p14:sldIdLst>
            <p14:sldId id="260"/>
            <p14:sldId id="261"/>
          </p14:sldIdLst>
        </p14:section>
        <p14:section name="채점 기준" id="{e44c61aa-fe28-ebb6-7ea3-a9c8078ad103}">
          <p14:sldIdLst>
            <p14:sldId id="262"/>
            <p14:sldId id="263"/>
            <p14:sldId id="264"/>
          </p14:sldIdLst>
        </p14:section>
        <p14:section name="마무리" id="{9b996b95-24e2-0836-d2bc-4c2a25b66799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2학기 수행평가: 희망표현 〜たいです를 활용한 일본 여행 버킷리스트 작성(7점) + 인터뷰 말하기(5점).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371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6"/>
                </a:solidFill>
              </a:rPr>
              <a:t>송호고등학교 2학년 일본어회화 · 2학기 수행평가</a:t>
            </a:r>
            <a:endParaRPr lang="en-US" sz="2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일본 여행 버킷리스트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〜たいです</a:t>
            </a:r>
            <a:pPr algn="l" indent="0" marL="0">
              <a:buNone/>
            </a:pPr>
            <a:r>
              <a:rPr lang="en-US" sz="3000" dirty="0">
                <a:solidFill>
                  <a:schemeClr val="accent3"/>
                </a:solidFill>
              </a:rPr>
              <a:t>  로 쓰고, 말하기</a:t>
            </a:r>
            <a:endParaRPr lang="en-US" sz="3000" dirty="0"/>
          </a:p>
        </p:txBody>
      </p:sp>
      <p:sp>
        <p:nvSpPr>
          <p:cNvPr id="5" name="Sun"/>
          <p:cNvSpPr/>
          <p:nvPr/>
        </p:nvSpPr>
        <p:spPr>
          <a:xfrm>
            <a:off x="9326880" y="822960"/>
            <a:ext cx="2194560" cy="21945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la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371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한눈에 보기</a:t>
            </a:r>
            <a:endParaRPr lang="en-US" sz="4000" dirty="0"/>
          </a:p>
        </p:txBody>
      </p:sp>
      <p:sp>
        <p:nvSpPr>
          <p:cNvPr id="3" name="Stat card 1"/>
          <p:cNvSpPr/>
          <p:nvPr/>
        </p:nvSpPr>
        <p:spPr>
          <a:xfrm>
            <a:off x="548640" y="1737360"/>
            <a:ext cx="3566160" cy="31089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548640" y="21031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5문장</a:t>
            </a:r>
            <a:endParaRPr lang="en-US" sz="6600" dirty="0"/>
          </a:p>
        </p:txBody>
      </p:sp>
      <p:sp>
        <p:nvSpPr>
          <p:cNvPr id="5" name="Stat label 1"/>
          <p:cNvSpPr txBox="1"/>
          <p:nvPr/>
        </p:nvSpPr>
        <p:spPr>
          <a:xfrm>
            <a:off x="548640" y="3749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버킷리스트 작성</a:t>
            </a:r>
            <a:endParaRPr lang="en-US" sz="2800" dirty="0"/>
          </a:p>
        </p:txBody>
      </p:sp>
      <p:sp>
        <p:nvSpPr>
          <p:cNvPr id="6" name="Stat card 2"/>
          <p:cNvSpPr/>
          <p:nvPr/>
        </p:nvSpPr>
        <p:spPr>
          <a:xfrm>
            <a:off x="4389120" y="1737360"/>
            <a:ext cx="3566160" cy="31089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/>
        </p:spPr>
      </p:sp>
      <p:sp>
        <p:nvSpPr>
          <p:cNvPr id="7" name="Stat value 2"/>
          <p:cNvSpPr txBox="1"/>
          <p:nvPr/>
        </p:nvSpPr>
        <p:spPr>
          <a:xfrm>
            <a:off x="4389120" y="21031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7점</a:t>
            </a:r>
            <a:endParaRPr lang="en-US" sz="6600" dirty="0"/>
          </a:p>
        </p:txBody>
      </p:sp>
      <p:sp>
        <p:nvSpPr>
          <p:cNvPr id="8" name="Stat label 2"/>
          <p:cNvSpPr txBox="1"/>
          <p:nvPr/>
        </p:nvSpPr>
        <p:spPr>
          <a:xfrm>
            <a:off x="4389120" y="3749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쓰기</a:t>
            </a:r>
            <a:endParaRPr lang="en-US" sz="2800" dirty="0"/>
          </a:p>
        </p:txBody>
      </p:sp>
      <p:sp>
        <p:nvSpPr>
          <p:cNvPr id="9" name="Stat card 3"/>
          <p:cNvSpPr/>
          <p:nvPr/>
        </p:nvSpPr>
        <p:spPr>
          <a:xfrm>
            <a:off x="8229600" y="1737360"/>
            <a:ext cx="3566160" cy="3108960"/>
          </a:xfrm>
          <a:prstGeom prst="roundRect">
            <a:avLst>
              <a:gd name="adj" fmla="val 4412"/>
            </a:avLst>
          </a:prstGeom>
          <a:solidFill>
            <a:schemeClr val="bg2"/>
          </a:solidFill>
          <a:ln/>
        </p:spPr>
      </p:sp>
      <p:sp>
        <p:nvSpPr>
          <p:cNvPr id="10" name="Stat value 3"/>
          <p:cNvSpPr txBox="1"/>
          <p:nvPr/>
        </p:nvSpPr>
        <p:spPr>
          <a:xfrm>
            <a:off x="8229600" y="21031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5점</a:t>
            </a:r>
            <a:endParaRPr lang="en-US" sz="6600" dirty="0"/>
          </a:p>
        </p:txBody>
      </p:sp>
      <p:sp>
        <p:nvSpPr>
          <p:cNvPr id="11" name="Stat label 3"/>
          <p:cNvSpPr txBox="1"/>
          <p:nvPr/>
        </p:nvSpPr>
        <p:spPr>
          <a:xfrm>
            <a:off x="8229600" y="3749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말하기 (인터뷰)</a:t>
            </a:r>
            <a:endParaRPr lang="en-US" sz="2800" dirty="0"/>
          </a:p>
        </p:txBody>
      </p:sp>
      <p:sp>
        <p:nvSpPr>
          <p:cNvPr id="12" name="Summary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일본 여행지에서 해 보고 싶은 것 5가지를 </a:t>
            </a:r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〜たいです</a:t>
            </a:r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로 쓰고 말해요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희망표현 </a:t>
            </a:r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〜たいです</a:t>
            </a:r>
            <a:endParaRPr lang="en-US" sz="4000" dirty="0"/>
          </a:p>
        </p:txBody>
      </p:sp>
      <p:sp>
        <p:nvSpPr>
          <p:cNvPr id="3" name="Formula card"/>
          <p:cNvSpPr/>
          <p:nvPr/>
        </p:nvSpPr>
        <p:spPr>
          <a:xfrm>
            <a:off x="548640" y="1554480"/>
            <a:ext cx="11064240" cy="1188720"/>
          </a:xfrm>
          <a:prstGeom prst="roundRect">
            <a:avLst>
              <a:gd name="adj" fmla="val 11538"/>
            </a:avLst>
          </a:prstGeom>
          <a:solidFill>
            <a:schemeClr val="tx2"/>
          </a:solidFill>
          <a:ln/>
        </p:spPr>
      </p:sp>
      <p:sp>
        <p:nvSpPr>
          <p:cNvPr id="4" name="Formula"/>
          <p:cNvSpPr txBox="1"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동사 ます형  −  </a:t>
            </a:r>
            <a:pPr algn="ctr" indent="0" marL="0">
              <a:buNone/>
            </a:pPr>
            <a:r>
              <a:rPr lang="en-US" sz="3400" b="1" strike="sngStrike" dirty="0">
                <a:solidFill>
                  <a:schemeClr val="accent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ます</a:t>
            </a:r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  +  </a:t>
            </a:r>
            <a:pPr algn="ctr"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たいです</a:t>
            </a:r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   = ~하고 싶습니다</a:t>
            </a:r>
            <a:endParaRPr lang="en-US" sz="3400" dirty="0"/>
          </a:p>
        </p:txBody>
      </p:sp>
      <p:sp>
        <p:nvSpPr>
          <p:cNvPr id="5" name="Example row 1"/>
          <p:cNvSpPr/>
          <p:nvPr/>
        </p:nvSpPr>
        <p:spPr>
          <a:xfrm>
            <a:off x="548640" y="3063240"/>
            <a:ext cx="11064240" cy="86868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</p:spPr>
      </p:sp>
      <p:sp>
        <p:nvSpPr>
          <p:cNvPr id="6" name="Ex verb 1"/>
          <p:cNvSpPr txBox="1"/>
          <p:nvPr/>
        </p:nvSpPr>
        <p:spPr>
          <a:xfrm>
            <a:off x="822960" y="30632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行（い）きます</a:t>
            </a:r>
            <a:endParaRPr lang="en-US" sz="2800" dirty="0"/>
          </a:p>
        </p:txBody>
      </p:sp>
      <p:pic>
        <p:nvPicPr>
          <p:cNvPr id="7" name="Ex arrow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3310128"/>
            <a:ext cx="384048" cy="384048"/>
          </a:xfrm>
          <a:prstGeom prst="rect">
            <a:avLst/>
          </a:prstGeom>
        </p:spPr>
      </p:pic>
      <p:sp>
        <p:nvSpPr>
          <p:cNvPr id="8" name="Ex wish 1"/>
          <p:cNvSpPr txBox="1"/>
          <p:nvPr/>
        </p:nvSpPr>
        <p:spPr>
          <a:xfrm>
            <a:off x="4754880" y="30632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行（い）きたいです</a:t>
            </a:r>
            <a:endParaRPr lang="en-US" sz="2800" dirty="0"/>
          </a:p>
        </p:txBody>
      </p:sp>
      <p:sp>
        <p:nvSpPr>
          <p:cNvPr id="9" name="Ex ko 1"/>
          <p:cNvSpPr txBox="1"/>
          <p:nvPr/>
        </p:nvSpPr>
        <p:spPr>
          <a:xfrm>
            <a:off x="8778240" y="3063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가고 싶습니다</a:t>
            </a:r>
            <a:endParaRPr lang="en-US" sz="2600" dirty="0"/>
          </a:p>
        </p:txBody>
      </p:sp>
      <p:sp>
        <p:nvSpPr>
          <p:cNvPr id="10" name="Example row 2"/>
          <p:cNvSpPr/>
          <p:nvPr/>
        </p:nvSpPr>
        <p:spPr>
          <a:xfrm>
            <a:off x="548640" y="4114800"/>
            <a:ext cx="11064240" cy="86868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</p:spPr>
      </p:sp>
      <p:sp>
        <p:nvSpPr>
          <p:cNvPr id="11" name="Ex verb 2"/>
          <p:cNvSpPr txBox="1"/>
          <p:nvPr/>
        </p:nvSpPr>
        <p:spPr>
          <a:xfrm>
            <a:off x="822960" y="41148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食（た）べます</a:t>
            </a:r>
            <a:endParaRPr lang="en-US" sz="2800" dirty="0"/>
          </a:p>
        </p:txBody>
      </p:sp>
      <p:pic>
        <p:nvPicPr>
          <p:cNvPr id="12" name="Ex arrow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4361688"/>
            <a:ext cx="384048" cy="384048"/>
          </a:xfrm>
          <a:prstGeom prst="rect">
            <a:avLst/>
          </a:prstGeom>
        </p:spPr>
      </p:pic>
      <p:sp>
        <p:nvSpPr>
          <p:cNvPr id="13" name="Ex wish 2"/>
          <p:cNvSpPr txBox="1"/>
          <p:nvPr/>
        </p:nvSpPr>
        <p:spPr>
          <a:xfrm>
            <a:off x="4754880" y="41148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食（た）べたいです</a:t>
            </a:r>
            <a:endParaRPr lang="en-US" sz="2800" dirty="0"/>
          </a:p>
        </p:txBody>
      </p:sp>
      <p:sp>
        <p:nvSpPr>
          <p:cNvPr id="14" name="Ex ko 2"/>
          <p:cNvSpPr txBox="1"/>
          <p:nvPr/>
        </p:nvSpPr>
        <p:spPr>
          <a:xfrm>
            <a:off x="8778240" y="4114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먹고 싶습니다</a:t>
            </a:r>
            <a:endParaRPr lang="en-US" sz="2600" dirty="0"/>
          </a:p>
        </p:txBody>
      </p:sp>
      <p:sp>
        <p:nvSpPr>
          <p:cNvPr id="15" name="Example row 3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</p:spPr>
      </p:sp>
      <p:sp>
        <p:nvSpPr>
          <p:cNvPr id="16" name="Ex verb 3"/>
          <p:cNvSpPr txBox="1"/>
          <p:nvPr/>
        </p:nvSpPr>
        <p:spPr>
          <a:xfrm>
            <a:off x="822960" y="51663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買（か）います</a:t>
            </a:r>
            <a:endParaRPr lang="en-US" sz="2800" dirty="0"/>
          </a:p>
        </p:txBody>
      </p:sp>
      <p:pic>
        <p:nvPicPr>
          <p:cNvPr id="17" name="Ex arrow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413248"/>
            <a:ext cx="384048" cy="384048"/>
          </a:xfrm>
          <a:prstGeom prst="rect">
            <a:avLst/>
          </a:prstGeom>
        </p:spPr>
      </p:pic>
      <p:sp>
        <p:nvSpPr>
          <p:cNvPr id="18" name="Ex wish 3"/>
          <p:cNvSpPr txBox="1"/>
          <p:nvPr/>
        </p:nvSpPr>
        <p:spPr>
          <a:xfrm>
            <a:off x="4754880" y="51663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買（か）いたいです</a:t>
            </a:r>
            <a:endParaRPr lang="en-US" sz="2800" dirty="0"/>
          </a:p>
        </p:txBody>
      </p:sp>
      <p:sp>
        <p:nvSpPr>
          <p:cNvPr id="19" name="Ex ko 3"/>
          <p:cNvSpPr txBox="1"/>
          <p:nvPr/>
        </p:nvSpPr>
        <p:spPr>
          <a:xfrm>
            <a:off x="8778240" y="5166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2"/>
                </a:solidFill>
              </a:rPr>
              <a:t>사고 싶습니다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5문장은 이렇게 구성해요</a:t>
            </a:r>
            <a:endParaRPr lang="en-US" sz="4000" dirty="0"/>
          </a:p>
        </p:txBody>
      </p:sp>
      <p:sp>
        <p:nvSpPr>
          <p:cNvPr id="3" name="Cond row 1"/>
          <p:cNvSpPr/>
          <p:nvPr/>
        </p:nvSpPr>
        <p:spPr>
          <a:xfrm>
            <a:off x="548640" y="1463040"/>
            <a:ext cx="11064240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4" name="Cond 1 circle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ond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703070"/>
            <a:ext cx="297180" cy="297180"/>
          </a:xfrm>
          <a:prstGeom prst="rect">
            <a:avLst/>
          </a:prstGeom>
        </p:spPr>
      </p:pic>
      <p:sp>
        <p:nvSpPr>
          <p:cNvPr id="6" name="Cond head 1"/>
          <p:cNvSpPr txBox="1"/>
          <p:nvPr/>
        </p:nvSpPr>
        <p:spPr>
          <a:xfrm>
            <a:off x="1554480" y="1463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장소</a:t>
            </a:r>
            <a:endParaRPr lang="en-US" sz="2800" dirty="0"/>
          </a:p>
        </p:txBody>
      </p:sp>
      <p:sp>
        <p:nvSpPr>
          <p:cNvPr id="7" name="Cond jp 1"/>
          <p:cNvSpPr txBox="1"/>
          <p:nvPr/>
        </p:nvSpPr>
        <p:spPr>
          <a:xfrm>
            <a:off x="3749040" y="14630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東京（とうきょう）タワーに 行（い）きたいです。</a:t>
            </a:r>
            <a:endParaRPr lang="en-US" sz="2600" dirty="0"/>
          </a:p>
        </p:txBody>
      </p:sp>
      <p:sp>
        <p:nvSpPr>
          <p:cNvPr id="8" name="Cond row 2"/>
          <p:cNvSpPr/>
          <p:nvPr/>
        </p:nvSpPr>
        <p:spPr>
          <a:xfrm>
            <a:off x="548640" y="2377440"/>
            <a:ext cx="11064240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9" name="Cond 2 circle"/>
          <p:cNvSpPr/>
          <p:nvPr/>
        </p:nvSpPr>
        <p:spPr>
          <a:xfrm>
            <a:off x="731520" y="2468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ond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2617470"/>
            <a:ext cx="297180" cy="297180"/>
          </a:xfrm>
          <a:prstGeom prst="rect">
            <a:avLst/>
          </a:prstGeom>
        </p:spPr>
      </p:pic>
      <p:sp>
        <p:nvSpPr>
          <p:cNvPr id="11" name="Cond head 2"/>
          <p:cNvSpPr txBox="1"/>
          <p:nvPr/>
        </p:nvSpPr>
        <p:spPr>
          <a:xfrm>
            <a:off x="155448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먹거리</a:t>
            </a:r>
            <a:endParaRPr lang="en-US" sz="2800" dirty="0"/>
          </a:p>
        </p:txBody>
      </p:sp>
      <p:sp>
        <p:nvSpPr>
          <p:cNvPr id="12" name="Cond jp 2"/>
          <p:cNvSpPr txBox="1"/>
          <p:nvPr/>
        </p:nvSpPr>
        <p:spPr>
          <a:xfrm>
            <a:off x="3749040" y="23774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たこやきを 食（た）べたいです。</a:t>
            </a:r>
            <a:endParaRPr lang="en-US" sz="2600" dirty="0"/>
          </a:p>
        </p:txBody>
      </p:sp>
      <p:sp>
        <p:nvSpPr>
          <p:cNvPr id="13" name="Cond row 3"/>
          <p:cNvSpPr/>
          <p:nvPr/>
        </p:nvSpPr>
        <p:spPr>
          <a:xfrm>
            <a:off x="548640" y="3291840"/>
            <a:ext cx="11064240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4" name="Cond 3 circle"/>
          <p:cNvSpPr/>
          <p:nvPr/>
        </p:nvSpPr>
        <p:spPr>
          <a:xfrm>
            <a:off x="731520" y="33832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Cond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531870"/>
            <a:ext cx="297180" cy="297180"/>
          </a:xfrm>
          <a:prstGeom prst="rect">
            <a:avLst/>
          </a:prstGeom>
        </p:spPr>
      </p:pic>
      <p:sp>
        <p:nvSpPr>
          <p:cNvPr id="16" name="Cond head 3"/>
          <p:cNvSpPr txBox="1"/>
          <p:nvPr/>
        </p:nvSpPr>
        <p:spPr>
          <a:xfrm>
            <a:off x="1554480" y="3291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볼거리</a:t>
            </a:r>
            <a:endParaRPr lang="en-US" sz="2800" dirty="0"/>
          </a:p>
        </p:txBody>
      </p:sp>
      <p:sp>
        <p:nvSpPr>
          <p:cNvPr id="17" name="Cond jp 3"/>
          <p:cNvSpPr txBox="1"/>
          <p:nvPr/>
        </p:nvSpPr>
        <p:spPr>
          <a:xfrm>
            <a:off x="3749040" y="32918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富士山（ふじさん）を 見（み）たいです。</a:t>
            </a:r>
            <a:endParaRPr lang="en-US" sz="2600" dirty="0"/>
          </a:p>
        </p:txBody>
      </p:sp>
      <p:sp>
        <p:nvSpPr>
          <p:cNvPr id="18" name="Cond row 4"/>
          <p:cNvSpPr/>
          <p:nvPr/>
        </p:nvSpPr>
        <p:spPr>
          <a:xfrm>
            <a:off x="548640" y="4206240"/>
            <a:ext cx="11064240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9" name="Cond 4 circle"/>
          <p:cNvSpPr/>
          <p:nvPr/>
        </p:nvSpPr>
        <p:spPr>
          <a:xfrm>
            <a:off x="731520" y="4297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Cond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4446270"/>
            <a:ext cx="297180" cy="297180"/>
          </a:xfrm>
          <a:prstGeom prst="rect">
            <a:avLst/>
          </a:prstGeom>
        </p:spPr>
      </p:pic>
      <p:sp>
        <p:nvSpPr>
          <p:cNvPr id="21" name="Cond head 4"/>
          <p:cNvSpPr txBox="1"/>
          <p:nvPr/>
        </p:nvSpPr>
        <p:spPr>
          <a:xfrm>
            <a:off x="1554480" y="4206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살 거리</a:t>
            </a:r>
            <a:endParaRPr lang="en-US" sz="2800" dirty="0"/>
          </a:p>
        </p:txBody>
      </p:sp>
      <p:sp>
        <p:nvSpPr>
          <p:cNvPr id="22" name="Cond jp 4"/>
          <p:cNvSpPr txBox="1"/>
          <p:nvPr/>
        </p:nvSpPr>
        <p:spPr>
          <a:xfrm>
            <a:off x="3749040" y="4206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おみやげを 買（か）いたいです。</a:t>
            </a:r>
            <a:endParaRPr lang="en-US" sz="2600" dirty="0"/>
          </a:p>
        </p:txBody>
      </p:sp>
      <p:sp>
        <p:nvSpPr>
          <p:cNvPr id="23" name="Cond row 5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4" name="Cond 5 circle"/>
          <p:cNvSpPr/>
          <p:nvPr/>
        </p:nvSpPr>
        <p:spPr>
          <a:xfrm>
            <a:off x="731520" y="5212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Cond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5360670"/>
            <a:ext cx="297180" cy="297180"/>
          </a:xfrm>
          <a:prstGeom prst="rect">
            <a:avLst/>
          </a:prstGeom>
        </p:spPr>
      </p:pic>
      <p:sp>
        <p:nvSpPr>
          <p:cNvPr id="26" name="Cond head 5"/>
          <p:cNvSpPr txBox="1"/>
          <p:nvPr/>
        </p:nvSpPr>
        <p:spPr>
          <a:xfrm>
            <a:off x="1554480" y="5120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자유 문장</a:t>
            </a:r>
            <a:endParaRPr lang="en-US" sz="2800" dirty="0"/>
          </a:p>
        </p:txBody>
      </p:sp>
      <p:sp>
        <p:nvSpPr>
          <p:cNvPr id="27" name="Cond jp 5"/>
          <p:cNvSpPr txBox="1"/>
          <p:nvPr/>
        </p:nvSpPr>
        <p:spPr>
          <a:xfrm>
            <a:off x="3749040" y="51206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着物（きもの）を 着（き）たいです。</a:t>
            </a:r>
            <a:endParaRPr lang="en-US" sz="2600" dirty="0"/>
          </a:p>
        </p:txBody>
      </p:sp>
      <p:sp>
        <p:nvSpPr>
          <p:cNvPr id="28" name="Cond note"/>
          <p:cNvSpPr txBox="1"/>
          <p:nvPr/>
        </p:nvSpPr>
        <p:spPr>
          <a:xfrm>
            <a:off x="548640" y="6035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※ 모둠활동에서 조사한 여행지 내용으로 써요 (위 문장은 예시)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꼭 지켜야 할 규칙</a:t>
            </a:r>
            <a:endParaRPr lang="en-US" sz="4000" dirty="0"/>
          </a:p>
        </p:txBody>
      </p:sp>
      <p:sp>
        <p:nvSpPr>
          <p:cNvPr id="3" name="Rule card 1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Rule 1 circle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ul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00250"/>
            <a:ext cx="342900" cy="342900"/>
          </a:xfrm>
          <a:prstGeom prst="rect">
            <a:avLst/>
          </a:prstGeom>
        </p:spPr>
      </p:pic>
      <p:sp>
        <p:nvSpPr>
          <p:cNvPr id="6" name="Rule head 1"/>
          <p:cNvSpPr txBox="1"/>
          <p:nvPr/>
        </p:nvSpPr>
        <p:spPr>
          <a:xfrm>
            <a:off x="164592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모둠 조사 내용</a:t>
            </a:r>
            <a:endParaRPr lang="en-US" sz="2400" dirty="0"/>
          </a:p>
        </p:txBody>
      </p:sp>
      <p:sp>
        <p:nvSpPr>
          <p:cNvPr id="7" name="Rule desc 1"/>
          <p:cNvSpPr txBox="1"/>
          <p:nvPr/>
        </p:nvSpPr>
        <p:spPr>
          <a:xfrm>
            <a:off x="82296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우리 모둠이 조사한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여행지로 쓰기</a:t>
            </a:r>
            <a:endParaRPr lang="en-US" sz="2200" dirty="0"/>
          </a:p>
        </p:txBody>
      </p:sp>
      <p:sp>
        <p:nvSpPr>
          <p:cNvPr id="8" name="Rule card 2"/>
          <p:cNvSpPr/>
          <p:nvPr/>
        </p:nvSpPr>
        <p:spPr>
          <a:xfrm>
            <a:off x="4297680" y="1554480"/>
            <a:ext cx="356616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9" name="Rule 2 circle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Rul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000250"/>
            <a:ext cx="342900" cy="342900"/>
          </a:xfrm>
          <a:prstGeom prst="rect">
            <a:avLst/>
          </a:prstGeom>
        </p:spPr>
      </p:pic>
      <p:sp>
        <p:nvSpPr>
          <p:cNvPr id="11" name="Rule head 2"/>
          <p:cNvSpPr txBox="1"/>
          <p:nvPr/>
        </p:nvSpPr>
        <p:spPr>
          <a:xfrm>
            <a:off x="539496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정중형 쓰기</a:t>
            </a:r>
            <a:endParaRPr lang="en-US" sz="2400" dirty="0"/>
          </a:p>
        </p:txBody>
      </p:sp>
      <p:sp>
        <p:nvSpPr>
          <p:cNvPr id="12" name="Rule desc 2"/>
          <p:cNvSpPr txBox="1"/>
          <p:nvPr/>
        </p:nvSpPr>
        <p:spPr>
          <a:xfrm>
            <a:off x="457200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〜たいです로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쓰고 말하기</a:t>
            </a:r>
            <a:endParaRPr lang="en-US" sz="2200" dirty="0"/>
          </a:p>
        </p:txBody>
      </p:sp>
      <p:sp>
        <p:nvSpPr>
          <p:cNvPr id="13" name="Rule card 3"/>
          <p:cNvSpPr/>
          <p:nvPr/>
        </p:nvSpPr>
        <p:spPr>
          <a:xfrm>
            <a:off x="8046720" y="1554480"/>
            <a:ext cx="356616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4" name="Rule 3 circle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Rul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2000250"/>
            <a:ext cx="342900" cy="342900"/>
          </a:xfrm>
          <a:prstGeom prst="rect">
            <a:avLst/>
          </a:prstGeom>
        </p:spPr>
      </p:pic>
      <p:sp>
        <p:nvSpPr>
          <p:cNvPr id="16" name="Rule head 3"/>
          <p:cNvSpPr txBox="1"/>
          <p:nvPr/>
        </p:nvSpPr>
        <p:spPr>
          <a:xfrm>
            <a:off x="914400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검정·파란 펜</a:t>
            </a:r>
            <a:endParaRPr lang="en-US" sz="2400" dirty="0"/>
          </a:p>
        </p:txBody>
      </p:sp>
      <p:sp>
        <p:nvSpPr>
          <p:cNvPr id="17" name="Rule desc 3"/>
          <p:cNvSpPr txBox="1"/>
          <p:nvPr/>
        </p:nvSpPr>
        <p:spPr>
          <a:xfrm>
            <a:off x="8321040" y="26517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다른 색 펜,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연필은 안 돼요</a:t>
            </a:r>
            <a:endParaRPr lang="en-US" sz="2200" dirty="0"/>
          </a:p>
        </p:txBody>
      </p:sp>
      <p:sp>
        <p:nvSpPr>
          <p:cNvPr id="18" name="Rule card 4"/>
          <p:cNvSpPr/>
          <p:nvPr/>
        </p:nvSpPr>
        <p:spPr>
          <a:xfrm>
            <a:off x="548640" y="3931920"/>
            <a:ext cx="356616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Rule 4 circle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Rul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377690"/>
            <a:ext cx="342900" cy="342900"/>
          </a:xfrm>
          <a:prstGeom prst="rect">
            <a:avLst/>
          </a:prstGeom>
        </p:spPr>
      </p:pic>
      <p:sp>
        <p:nvSpPr>
          <p:cNvPr id="21" name="Rule head 4"/>
          <p:cNvSpPr txBox="1"/>
          <p:nvPr/>
        </p:nvSpPr>
        <p:spPr>
          <a:xfrm>
            <a:off x="164592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한자엔 히라가나</a:t>
            </a:r>
            <a:endParaRPr lang="en-US" sz="2400" dirty="0"/>
          </a:p>
        </p:txBody>
      </p:sp>
      <p:sp>
        <p:nvSpPr>
          <p:cNvPr id="22" name="Rule desc 4"/>
          <p:cNvSpPr txBox="1"/>
          <p:nvPr/>
        </p:nvSpPr>
        <p:spPr>
          <a:xfrm>
            <a:off x="822960" y="5029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한자에는 히라가나를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함께 써야 인정</a:t>
            </a:r>
            <a:endParaRPr lang="en-US" sz="2200" dirty="0"/>
          </a:p>
        </p:txBody>
      </p:sp>
      <p:sp>
        <p:nvSpPr>
          <p:cNvPr id="23" name="Rule card 5"/>
          <p:cNvSpPr/>
          <p:nvPr/>
        </p:nvSpPr>
        <p:spPr>
          <a:xfrm>
            <a:off x="4297680" y="3931920"/>
            <a:ext cx="3566160" cy="214884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24" name="Rule 5 circle"/>
          <p:cNvSpPr/>
          <p:nvPr/>
        </p:nvSpPr>
        <p:spPr>
          <a:xfrm>
            <a:off x="4572000" y="4206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Rul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4377690"/>
            <a:ext cx="342900" cy="342900"/>
          </a:xfrm>
          <a:prstGeom prst="rect">
            <a:avLst/>
          </a:prstGeom>
        </p:spPr>
      </p:pic>
      <p:sp>
        <p:nvSpPr>
          <p:cNvPr id="26" name="Rule head 5"/>
          <p:cNvSpPr txBox="1"/>
          <p:nvPr/>
        </p:nvSpPr>
        <p:spPr>
          <a:xfrm>
            <a:off x="539496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뜻 쓰기</a:t>
            </a:r>
            <a:endParaRPr lang="en-US" sz="2400" dirty="0"/>
          </a:p>
        </p:txBody>
      </p:sp>
      <p:sp>
        <p:nvSpPr>
          <p:cNvPr id="27" name="Rule desc 5"/>
          <p:cNvSpPr txBox="1"/>
          <p:nvPr/>
        </p:nvSpPr>
        <p:spPr>
          <a:xfrm>
            <a:off x="4572000" y="5029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문장마다 아래에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한국어 뜻 쓰기</a:t>
            </a:r>
            <a:endParaRPr lang="en-US" sz="2200" dirty="0"/>
          </a:p>
        </p:txBody>
      </p:sp>
      <p:sp>
        <p:nvSpPr>
          <p:cNvPr id="28" name="Rule card 6"/>
          <p:cNvSpPr/>
          <p:nvPr/>
        </p:nvSpPr>
        <p:spPr>
          <a:xfrm>
            <a:off x="8046720" y="3931920"/>
            <a:ext cx="3566160" cy="2148840"/>
          </a:xfrm>
          <a:prstGeom prst="roundRect">
            <a:avLst>
              <a:gd name="adj" fmla="val 6383"/>
            </a:avLst>
          </a:prstGeom>
          <a:solidFill>
            <a:schemeClr val="accent1"/>
          </a:solidFill>
          <a:ln/>
        </p:spPr>
      </p:sp>
      <p:sp>
        <p:nvSpPr>
          <p:cNvPr id="29" name="Rule 6 circle"/>
          <p:cNvSpPr/>
          <p:nvPr/>
        </p:nvSpPr>
        <p:spPr>
          <a:xfrm>
            <a:off x="8321040" y="42062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Rul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4377690"/>
            <a:ext cx="342900" cy="342900"/>
          </a:xfrm>
          <a:prstGeom prst="rect">
            <a:avLst/>
          </a:prstGeom>
        </p:spPr>
      </p:pic>
      <p:sp>
        <p:nvSpPr>
          <p:cNvPr id="31" name="Rule head 6"/>
          <p:cNvSpPr txBox="1"/>
          <p:nvPr/>
        </p:nvSpPr>
        <p:spPr>
          <a:xfrm>
            <a:off x="914400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부분 점수 없음</a:t>
            </a:r>
            <a:endParaRPr lang="en-US" sz="2400" dirty="0"/>
          </a:p>
        </p:txBody>
      </p:sp>
      <p:sp>
        <p:nvSpPr>
          <p:cNvPr id="32" name="Rule desc 6"/>
          <p:cNvSpPr txBox="1"/>
          <p:nvPr/>
        </p:nvSpPr>
        <p:spPr>
          <a:xfrm>
            <a:off x="8321040" y="5029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한 군데라도 틀리면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그 문장은 0점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이렇게 진행해요</a:t>
            </a:r>
            <a:endParaRPr lang="en-US" sz="4000" dirty="0"/>
          </a:p>
        </p:txBody>
      </p:sp>
      <p:sp>
        <p:nvSpPr>
          <p:cNvPr id="3" name="Step 1 circle"/>
          <p:cNvSpPr/>
          <p:nvPr/>
        </p:nvSpPr>
        <p:spPr>
          <a:xfrm>
            <a:off x="1280160" y="2011680"/>
            <a:ext cx="1371600" cy="13716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354580"/>
            <a:ext cx="685800" cy="685800"/>
          </a:xfrm>
          <a:prstGeom prst="rect">
            <a:avLst/>
          </a:prstGeom>
        </p:spPr>
      </p:pic>
      <p:sp>
        <p:nvSpPr>
          <p:cNvPr id="5" name="Arrow 1"/>
          <p:cNvSpPr/>
          <p:nvPr/>
        </p:nvSpPr>
        <p:spPr>
          <a:xfrm rot="5400000">
            <a:off x="3063240" y="2514600"/>
            <a:ext cx="365760" cy="365760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6" name="Step num 1"/>
          <p:cNvSpPr txBox="1"/>
          <p:nvPr/>
        </p:nvSpPr>
        <p:spPr>
          <a:xfrm>
            <a:off x="548640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1단계</a:t>
            </a:r>
            <a:endParaRPr lang="en-US" sz="2200" dirty="0"/>
          </a:p>
        </p:txBody>
      </p:sp>
      <p:sp>
        <p:nvSpPr>
          <p:cNvPr id="7" name="Step head 1"/>
          <p:cNvSpPr txBox="1"/>
          <p:nvPr/>
        </p:nvSpPr>
        <p:spPr>
          <a:xfrm>
            <a:off x="548640" y="4069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모둠 조사</a:t>
            </a:r>
            <a:endParaRPr lang="en-US" sz="3200" dirty="0"/>
          </a:p>
        </p:txBody>
      </p:sp>
      <p:sp>
        <p:nvSpPr>
          <p:cNvPr id="8" name="Step desc 1"/>
          <p:cNvSpPr txBox="1"/>
          <p:nvPr/>
        </p:nvSpPr>
        <p:spPr>
          <a:xfrm>
            <a:off x="548640" y="4846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여행지의 장소·음식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볼거리·쇼핑 조사</a:t>
            </a:r>
            <a:endParaRPr lang="en-US" sz="2400" dirty="0"/>
          </a:p>
        </p:txBody>
      </p:sp>
      <p:sp>
        <p:nvSpPr>
          <p:cNvPr id="9" name="Step 2 circle"/>
          <p:cNvSpPr/>
          <p:nvPr/>
        </p:nvSpPr>
        <p:spPr>
          <a:xfrm>
            <a:off x="4160520" y="2011680"/>
            <a:ext cx="1371600" cy="13716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2354580"/>
            <a:ext cx="685800" cy="685800"/>
          </a:xfrm>
          <a:prstGeom prst="rect">
            <a:avLst/>
          </a:prstGeom>
        </p:spPr>
      </p:pic>
      <p:sp>
        <p:nvSpPr>
          <p:cNvPr id="11" name="Arrow 2"/>
          <p:cNvSpPr/>
          <p:nvPr/>
        </p:nvSpPr>
        <p:spPr>
          <a:xfrm rot="5400000">
            <a:off x="5943600" y="2514600"/>
            <a:ext cx="365760" cy="365760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2" name="Step num 2"/>
          <p:cNvSpPr txBox="1"/>
          <p:nvPr/>
        </p:nvSpPr>
        <p:spPr>
          <a:xfrm>
            <a:off x="3429000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2단계</a:t>
            </a:r>
            <a:endParaRPr lang="en-US" sz="2200" dirty="0"/>
          </a:p>
        </p:txBody>
      </p:sp>
      <p:sp>
        <p:nvSpPr>
          <p:cNvPr id="13" name="Step head 2"/>
          <p:cNvSpPr txBox="1"/>
          <p:nvPr/>
        </p:nvSpPr>
        <p:spPr>
          <a:xfrm>
            <a:off x="3429000" y="4069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5문장 쓰기</a:t>
            </a:r>
            <a:endParaRPr lang="en-US" sz="3200" dirty="0"/>
          </a:p>
        </p:txBody>
      </p:sp>
      <p:sp>
        <p:nvSpPr>
          <p:cNvPr id="14" name="Step desc 2"/>
          <p:cNvSpPr txBox="1"/>
          <p:nvPr/>
        </p:nvSpPr>
        <p:spPr>
          <a:xfrm>
            <a:off x="3429000" y="4846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활동지에 일본어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문장과 뜻 작성</a:t>
            </a:r>
            <a:endParaRPr lang="en-US" sz="2400" dirty="0"/>
          </a:p>
        </p:txBody>
      </p:sp>
      <p:sp>
        <p:nvSpPr>
          <p:cNvPr id="15" name="Step 3 circle"/>
          <p:cNvSpPr/>
          <p:nvPr/>
        </p:nvSpPr>
        <p:spPr>
          <a:xfrm>
            <a:off x="7040880" y="2011680"/>
            <a:ext cx="1371600" cy="13716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0" y="2354580"/>
            <a:ext cx="685800" cy="685800"/>
          </a:xfrm>
          <a:prstGeom prst="rect">
            <a:avLst/>
          </a:prstGeom>
        </p:spPr>
      </p:pic>
      <p:sp>
        <p:nvSpPr>
          <p:cNvPr id="17" name="Arrow 3"/>
          <p:cNvSpPr/>
          <p:nvPr/>
        </p:nvSpPr>
        <p:spPr>
          <a:xfrm rot="5400000">
            <a:off x="8823960" y="2514600"/>
            <a:ext cx="365760" cy="365760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8" name="Step num 3"/>
          <p:cNvSpPr txBox="1"/>
          <p:nvPr/>
        </p:nvSpPr>
        <p:spPr>
          <a:xfrm>
            <a:off x="6309360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3단계</a:t>
            </a:r>
            <a:endParaRPr lang="en-US" sz="2200" dirty="0"/>
          </a:p>
        </p:txBody>
      </p:sp>
      <p:sp>
        <p:nvSpPr>
          <p:cNvPr id="19" name="Step head 3"/>
          <p:cNvSpPr txBox="1"/>
          <p:nvPr/>
        </p:nvSpPr>
        <p:spPr>
          <a:xfrm>
            <a:off x="6309360" y="4069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말하기 연습</a:t>
            </a:r>
            <a:endParaRPr lang="en-US" sz="3200" dirty="0"/>
          </a:p>
        </p:txBody>
      </p:sp>
      <p:sp>
        <p:nvSpPr>
          <p:cNvPr id="20" name="Step desc 3"/>
          <p:cNvSpPr txBox="1"/>
          <p:nvPr/>
        </p:nvSpPr>
        <p:spPr>
          <a:xfrm>
            <a:off x="6309360" y="4846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내 문장을 외워서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소리 내어 연습</a:t>
            </a:r>
            <a:endParaRPr lang="en-US" sz="2400" dirty="0"/>
          </a:p>
        </p:txBody>
      </p:sp>
      <p:sp>
        <p:nvSpPr>
          <p:cNvPr id="21" name="Step 4 circle"/>
          <p:cNvSpPr/>
          <p:nvPr/>
        </p:nvSpPr>
        <p:spPr>
          <a:xfrm>
            <a:off x="9921240" y="201168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4140" y="2354580"/>
            <a:ext cx="685800" cy="685800"/>
          </a:xfrm>
          <a:prstGeom prst="rect">
            <a:avLst/>
          </a:prstGeom>
        </p:spPr>
      </p:pic>
      <p:sp>
        <p:nvSpPr>
          <p:cNvPr id="23" name="Step num 4"/>
          <p:cNvSpPr txBox="1"/>
          <p:nvPr/>
        </p:nvSpPr>
        <p:spPr>
          <a:xfrm>
            <a:off x="9189720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4단계</a:t>
            </a:r>
            <a:endParaRPr lang="en-US" sz="2200" dirty="0"/>
          </a:p>
        </p:txBody>
      </p:sp>
      <p:sp>
        <p:nvSpPr>
          <p:cNvPr id="24" name="Step head 4"/>
          <p:cNvSpPr txBox="1"/>
          <p:nvPr/>
        </p:nvSpPr>
        <p:spPr>
          <a:xfrm>
            <a:off x="9189720" y="4069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인터뷰 평가</a:t>
            </a:r>
            <a:endParaRPr lang="en-US" sz="3200" dirty="0"/>
          </a:p>
        </p:txBody>
      </p:sp>
      <p:sp>
        <p:nvSpPr>
          <p:cNvPr id="25" name="Step desc 4"/>
          <p:cNvSpPr txBox="1"/>
          <p:nvPr/>
        </p:nvSpPr>
        <p:spPr>
          <a:xfrm>
            <a:off x="9189720" y="48463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선생님 질문에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내 문장으로 답하기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채점 기준 ① 쓰기 (7점)</a:t>
            </a:r>
            <a:endParaRPr lang="en-US" sz="4000" dirty="0"/>
          </a:p>
        </p:txBody>
      </p:sp>
      <p:sp>
        <p:nvSpPr>
          <p:cNvPr id="3" name="Write callout"/>
          <p:cNvSpPr/>
          <p:nvPr/>
        </p:nvSpPr>
        <p:spPr>
          <a:xfrm>
            <a:off x="548640" y="1554480"/>
            <a:ext cx="3291840" cy="457200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/>
        </p:spPr>
      </p:sp>
      <p:sp>
        <p:nvSpPr>
          <p:cNvPr id="4" name="Write big"/>
          <p:cNvSpPr txBox="1"/>
          <p:nvPr/>
        </p:nvSpPr>
        <p:spPr>
          <a:xfrm>
            <a:off x="548640" y="18288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3"/>
                </a:solidFill>
              </a:rPr>
              <a:t>7점</a:t>
            </a:r>
            <a:endParaRPr lang="en-US" sz="6600" dirty="0"/>
          </a:p>
        </p:txBody>
      </p:sp>
      <p:sp>
        <p:nvSpPr>
          <p:cNvPr id="5" name="Write desc"/>
          <p:cNvSpPr txBox="1"/>
          <p:nvPr/>
        </p:nvSpPr>
        <p:spPr>
          <a:xfrm>
            <a:off x="548640" y="32918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오류 없이 쓴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문장 수로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점수가 정해져요</a:t>
            </a:r>
            <a:endParaRPr lang="en-US" sz="2600" dirty="0"/>
          </a:p>
        </p:txBody>
      </p:sp>
      <p:graphicFrame>
        <p:nvGraphicFramePr>
          <p:cNvPr id="8" name="Write rubri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645920"/>
              </a:tblGrid>
              <a:tr h="6492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조건에 맞게 오류 없이 쓴 문장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점수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5가지 조건 모두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7점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4문장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6점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3문장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5점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2문장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4점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1문장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3점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참여했으나 미제출 (백지 제출 등)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</a:rPr>
                        <a:t>2점</a:t>
                      </a:r>
                      <a:endParaRPr lang="en-US" sz="2200" dirty="0"/>
                    </a:p>
                  </a:txBody>
                  <a:tcPr marL="182880" marR="137160" marT="0" marB="0"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채점 기준 ② 인터뷰 말하기 (5점)</a:t>
            </a:r>
            <a:endParaRPr lang="en-US" sz="4000" dirty="0"/>
          </a:p>
        </p:txBody>
      </p:sp>
      <p:sp>
        <p:nvSpPr>
          <p:cNvPr id="3" name="Speak card 1"/>
          <p:cNvSpPr/>
          <p:nvPr/>
        </p:nvSpPr>
        <p:spPr>
          <a:xfrm>
            <a:off x="548640" y="1554480"/>
            <a:ext cx="2606040" cy="457200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/>
        </p:spPr>
      </p:sp>
      <p:sp>
        <p:nvSpPr>
          <p:cNvPr id="4" name="Speak score 1"/>
          <p:cNvSpPr txBox="1"/>
          <p:nvPr/>
        </p:nvSpPr>
        <p:spPr>
          <a:xfrm>
            <a:off x="548640" y="1783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3"/>
                </a:solidFill>
              </a:rPr>
              <a:t>5점</a:t>
            </a:r>
            <a:endParaRPr lang="en-US" sz="6000" dirty="0"/>
          </a:p>
        </p:txBody>
      </p:sp>
      <p:sp>
        <p:nvSpPr>
          <p:cNvPr id="5" name="Speak head 1"/>
          <p:cNvSpPr txBox="1"/>
          <p:nvPr/>
        </p:nvSpPr>
        <p:spPr>
          <a:xfrm>
            <a:off x="548640" y="3017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내 문장 3개</a:t>
            </a:r>
            <a:endParaRPr lang="en-US" sz="2800" dirty="0"/>
          </a:p>
        </p:txBody>
      </p:sp>
      <p:sp>
        <p:nvSpPr>
          <p:cNvPr id="6" name="Speak desc 1"/>
          <p:cNvSpPr txBox="1"/>
          <p:nvPr/>
        </p:nvSpPr>
        <p:spPr>
          <a:xfrm>
            <a:off x="685800" y="38404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질문 정확히 이해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발음·문법 정확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유창하게 답변</a:t>
            </a:r>
            <a:endParaRPr lang="en-US" sz="2200" dirty="0"/>
          </a:p>
        </p:txBody>
      </p:sp>
      <p:sp>
        <p:nvSpPr>
          <p:cNvPr id="7" name="Speak card 2"/>
          <p:cNvSpPr/>
          <p:nvPr/>
        </p:nvSpPr>
        <p:spPr>
          <a:xfrm>
            <a:off x="3364992" y="1554480"/>
            <a:ext cx="2606040" cy="457200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8" name="Speak score 2"/>
          <p:cNvSpPr txBox="1"/>
          <p:nvPr/>
        </p:nvSpPr>
        <p:spPr>
          <a:xfrm>
            <a:off x="3364992" y="1783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4점</a:t>
            </a:r>
            <a:endParaRPr lang="en-US" sz="6000" dirty="0"/>
          </a:p>
        </p:txBody>
      </p:sp>
      <p:sp>
        <p:nvSpPr>
          <p:cNvPr id="9" name="Speak head 2"/>
          <p:cNvSpPr txBox="1"/>
          <p:nvPr/>
        </p:nvSpPr>
        <p:spPr>
          <a:xfrm>
            <a:off x="3364992" y="3017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내 문장 2개</a:t>
            </a:r>
            <a:endParaRPr lang="en-US" sz="2800" dirty="0"/>
          </a:p>
        </p:txBody>
      </p:sp>
      <p:sp>
        <p:nvSpPr>
          <p:cNvPr id="10" name="Speak desc 2"/>
          <p:cNvSpPr txBox="1"/>
          <p:nvPr/>
        </p:nvSpPr>
        <p:spPr>
          <a:xfrm>
            <a:off x="3502152" y="38404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질문 정확히 이해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올바르게 활용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답변</a:t>
            </a:r>
            <a:endParaRPr lang="en-US" sz="2200" dirty="0"/>
          </a:p>
        </p:txBody>
      </p:sp>
      <p:sp>
        <p:nvSpPr>
          <p:cNvPr id="11" name="Speak card 3"/>
          <p:cNvSpPr/>
          <p:nvPr/>
        </p:nvSpPr>
        <p:spPr>
          <a:xfrm>
            <a:off x="6181344" y="1554480"/>
            <a:ext cx="2606040" cy="457200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2" name="Speak score 3"/>
          <p:cNvSpPr txBox="1"/>
          <p:nvPr/>
        </p:nvSpPr>
        <p:spPr>
          <a:xfrm>
            <a:off x="6181344" y="1783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3점</a:t>
            </a:r>
            <a:endParaRPr lang="en-US" sz="6000" dirty="0"/>
          </a:p>
        </p:txBody>
      </p:sp>
      <p:sp>
        <p:nvSpPr>
          <p:cNvPr id="13" name="Speak head 3"/>
          <p:cNvSpPr txBox="1"/>
          <p:nvPr/>
        </p:nvSpPr>
        <p:spPr>
          <a:xfrm>
            <a:off x="6181344" y="3017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내 문장 1개</a:t>
            </a:r>
            <a:endParaRPr lang="en-US" sz="2800" dirty="0"/>
          </a:p>
        </p:txBody>
      </p:sp>
      <p:sp>
        <p:nvSpPr>
          <p:cNvPr id="14" name="Speak desc 3"/>
          <p:cNvSpPr txBox="1"/>
          <p:nvPr/>
        </p:nvSpPr>
        <p:spPr>
          <a:xfrm>
            <a:off x="6318504" y="38404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질문에 대해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올바르게 활용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답변</a:t>
            </a:r>
            <a:endParaRPr lang="en-US" sz="2200" dirty="0"/>
          </a:p>
        </p:txBody>
      </p:sp>
      <p:sp>
        <p:nvSpPr>
          <p:cNvPr id="15" name="Speak card 4"/>
          <p:cNvSpPr/>
          <p:nvPr/>
        </p:nvSpPr>
        <p:spPr>
          <a:xfrm>
            <a:off x="8997696" y="1554480"/>
            <a:ext cx="2606040" cy="457200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6" name="Speak score 4"/>
          <p:cNvSpPr txBox="1"/>
          <p:nvPr/>
        </p:nvSpPr>
        <p:spPr>
          <a:xfrm>
            <a:off x="8997696" y="1783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2점</a:t>
            </a:r>
            <a:endParaRPr lang="en-US" sz="6000" dirty="0"/>
          </a:p>
        </p:txBody>
      </p:sp>
      <p:sp>
        <p:nvSpPr>
          <p:cNvPr id="17" name="Speak head 4"/>
          <p:cNvSpPr txBox="1"/>
          <p:nvPr/>
        </p:nvSpPr>
        <p:spPr>
          <a:xfrm>
            <a:off x="8997696" y="3017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기본 점수</a:t>
            </a:r>
            <a:endParaRPr lang="en-US" sz="2800" dirty="0"/>
          </a:p>
        </p:txBody>
      </p:sp>
      <p:sp>
        <p:nvSpPr>
          <p:cNvPr id="18" name="Speak desc 4"/>
          <p:cNvSpPr txBox="1"/>
          <p:nvPr/>
        </p:nvSpPr>
        <p:spPr>
          <a:xfrm>
            <a:off x="9134856" y="384048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참여했으나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미제출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(백지 제출 등)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인터뷰는 이런 느낌이에요</a:t>
            </a:r>
            <a:endParaRPr lang="en-US" sz="4000" dirty="0"/>
          </a:p>
        </p:txBody>
      </p:sp>
      <p:sp>
        <p:nvSpPr>
          <p:cNvPr id="3" name="Bubble 1"/>
          <p:cNvSpPr/>
          <p:nvPr/>
        </p:nvSpPr>
        <p:spPr>
          <a:xfrm>
            <a:off x="548640" y="1508760"/>
            <a:ext cx="9692640" cy="987552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4" name="Speaker 1"/>
          <p:cNvSpPr txBox="1"/>
          <p:nvPr/>
        </p:nvSpPr>
        <p:spPr>
          <a:xfrm>
            <a:off x="777240" y="1508760"/>
            <a:ext cx="1188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선생님</a:t>
            </a:r>
            <a:endParaRPr lang="en-US" sz="2200" dirty="0"/>
          </a:p>
        </p:txBody>
      </p:sp>
      <p:sp>
        <p:nvSpPr>
          <p:cNvPr id="5" name="Bubble jp 1"/>
          <p:cNvSpPr txBox="1"/>
          <p:nvPr/>
        </p:nvSpPr>
        <p:spPr>
          <a:xfrm>
            <a:off x="1965960" y="158191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日本（にほん）で 何（なに）を したいですか。</a:t>
            </a:r>
            <a:endParaRPr lang="en-US" sz="2400" dirty="0"/>
          </a:p>
        </p:txBody>
      </p:sp>
      <p:sp>
        <p:nvSpPr>
          <p:cNvPr id="6" name="Bubble ko 1"/>
          <p:cNvSpPr txBox="1"/>
          <p:nvPr/>
        </p:nvSpPr>
        <p:spPr>
          <a:xfrm>
            <a:off x="1965960" y="2057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일본에서 무엇을 하고 싶어요?</a:t>
            </a:r>
            <a:endParaRPr lang="en-US" sz="1800" dirty="0"/>
          </a:p>
        </p:txBody>
      </p:sp>
      <p:sp>
        <p:nvSpPr>
          <p:cNvPr id="7" name="Bubble 2"/>
          <p:cNvSpPr/>
          <p:nvPr/>
        </p:nvSpPr>
        <p:spPr>
          <a:xfrm>
            <a:off x="1920240" y="2624328"/>
            <a:ext cx="9692640" cy="987552"/>
          </a:xfrm>
          <a:prstGeom prst="roundRect">
            <a:avLst>
              <a:gd name="adj" fmla="val 13889"/>
            </a:avLst>
          </a:prstGeom>
          <a:solidFill>
            <a:schemeClr val="accent6"/>
          </a:solidFill>
          <a:ln/>
        </p:spPr>
      </p:sp>
      <p:sp>
        <p:nvSpPr>
          <p:cNvPr id="8" name="Speaker 2"/>
          <p:cNvSpPr txBox="1"/>
          <p:nvPr/>
        </p:nvSpPr>
        <p:spPr>
          <a:xfrm>
            <a:off x="2148840" y="2624328"/>
            <a:ext cx="1188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나</a:t>
            </a:r>
            <a:endParaRPr lang="en-US" sz="2200" dirty="0"/>
          </a:p>
        </p:txBody>
      </p:sp>
      <p:sp>
        <p:nvSpPr>
          <p:cNvPr id="9" name="Bubble jp 2"/>
          <p:cNvSpPr txBox="1"/>
          <p:nvPr/>
        </p:nvSpPr>
        <p:spPr>
          <a:xfrm>
            <a:off x="3337560" y="2697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大阪（おおさか）で たこやきを 食（た）べたいです。</a:t>
            </a:r>
            <a:endParaRPr lang="en-US" sz="2400" dirty="0"/>
          </a:p>
        </p:txBody>
      </p:sp>
      <p:sp>
        <p:nvSpPr>
          <p:cNvPr id="10" name="Bubble ko 2"/>
          <p:cNvSpPr txBox="1"/>
          <p:nvPr/>
        </p:nvSpPr>
        <p:spPr>
          <a:xfrm>
            <a:off x="3337560" y="3172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오사카에서 다코야키를 먹고 싶습니다.</a:t>
            </a:r>
            <a:endParaRPr lang="en-US" sz="1800" dirty="0"/>
          </a:p>
        </p:txBody>
      </p:sp>
      <p:sp>
        <p:nvSpPr>
          <p:cNvPr id="11" name="Bubble 3"/>
          <p:cNvSpPr/>
          <p:nvPr/>
        </p:nvSpPr>
        <p:spPr>
          <a:xfrm>
            <a:off x="548640" y="3739896"/>
            <a:ext cx="9692640" cy="987552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/>
        </p:spPr>
      </p:sp>
      <p:sp>
        <p:nvSpPr>
          <p:cNvPr id="12" name="Speaker 3"/>
          <p:cNvSpPr txBox="1"/>
          <p:nvPr/>
        </p:nvSpPr>
        <p:spPr>
          <a:xfrm>
            <a:off x="777240" y="3739896"/>
            <a:ext cx="1188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선생님</a:t>
            </a:r>
            <a:endParaRPr lang="en-US" sz="2200" dirty="0"/>
          </a:p>
        </p:txBody>
      </p:sp>
      <p:sp>
        <p:nvSpPr>
          <p:cNvPr id="13" name="Bubble jp 3"/>
          <p:cNvSpPr txBox="1"/>
          <p:nvPr/>
        </p:nvSpPr>
        <p:spPr>
          <a:xfrm>
            <a:off x="1965960" y="38130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何（なに）を 買（か）いたいですか。</a:t>
            </a:r>
            <a:endParaRPr lang="en-US" sz="2400" dirty="0"/>
          </a:p>
        </p:txBody>
      </p:sp>
      <p:sp>
        <p:nvSpPr>
          <p:cNvPr id="14" name="Bubble ko 3"/>
          <p:cNvSpPr txBox="1"/>
          <p:nvPr/>
        </p:nvSpPr>
        <p:spPr>
          <a:xfrm>
            <a:off x="1965960" y="42885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무엇을 사고 싶어요?</a:t>
            </a:r>
            <a:endParaRPr lang="en-US" sz="1800" dirty="0"/>
          </a:p>
        </p:txBody>
      </p:sp>
      <p:sp>
        <p:nvSpPr>
          <p:cNvPr id="15" name="Bubble 4"/>
          <p:cNvSpPr/>
          <p:nvPr/>
        </p:nvSpPr>
        <p:spPr>
          <a:xfrm>
            <a:off x="1920240" y="4855464"/>
            <a:ext cx="9692640" cy="987552"/>
          </a:xfrm>
          <a:prstGeom prst="roundRect">
            <a:avLst>
              <a:gd name="adj" fmla="val 13889"/>
            </a:avLst>
          </a:prstGeom>
          <a:solidFill>
            <a:schemeClr val="accent6"/>
          </a:solidFill>
          <a:ln/>
        </p:spPr>
      </p:sp>
      <p:sp>
        <p:nvSpPr>
          <p:cNvPr id="16" name="Speaker 4"/>
          <p:cNvSpPr txBox="1"/>
          <p:nvPr/>
        </p:nvSpPr>
        <p:spPr>
          <a:xfrm>
            <a:off x="2148840" y="4855464"/>
            <a:ext cx="1188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나</a:t>
            </a:r>
            <a:endParaRPr lang="en-US" sz="2200" dirty="0"/>
          </a:p>
        </p:txBody>
      </p:sp>
      <p:sp>
        <p:nvSpPr>
          <p:cNvPr id="17" name="Bubble jp 4"/>
          <p:cNvSpPr txBox="1"/>
          <p:nvPr/>
        </p:nvSpPr>
        <p:spPr>
          <a:xfrm>
            <a:off x="3337560" y="492861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おみやげを 買（か）いたいです。</a:t>
            </a:r>
            <a:endParaRPr lang="en-US" sz="2400" dirty="0"/>
          </a:p>
        </p:txBody>
      </p:sp>
      <p:sp>
        <p:nvSpPr>
          <p:cNvPr id="18" name="Bubble ko 4"/>
          <p:cNvSpPr txBox="1"/>
          <p:nvPr/>
        </p:nvSpPr>
        <p:spPr>
          <a:xfrm>
            <a:off x="3337560" y="54041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기념품을 사고 싶습니다.</a:t>
            </a:r>
            <a:endParaRPr lang="en-US" sz="1800" dirty="0"/>
          </a:p>
        </p:txBody>
      </p:sp>
      <p:sp>
        <p:nvSpPr>
          <p:cNvPr id="19" name="Interview note"/>
          <p:cNvSpPr txBox="1"/>
          <p:nvPr/>
        </p:nvSpPr>
        <p:spPr>
          <a:xfrm>
            <a:off x="548640" y="6035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※ 예시 대화예요. 실제 질문은 달라질 수 있어요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がんばってください！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3"/>
                </a:solidFill>
              </a:rPr>
              <a:t>궁금한 점은 언제든지 선생님께 물어보세요</a:t>
            </a:r>
            <a:endParaRPr lang="en-US" sz="3000" dirty="0"/>
          </a:p>
        </p:txBody>
      </p:sp>
      <p:pic>
        <p:nvPicPr>
          <p:cNvPr id="4" name="Plane e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Japanese Assessment">
  <a:themeElements>
    <a:clrScheme name="Japanese Assessment">
      <a:dk1>
        <a:srgbClr val="1E1E24"/>
      </a:dk1>
      <a:lt1>
        <a:srgbClr val="FFFFFF"/>
      </a:lt1>
      <a:dk2>
        <a:srgbClr val="1F2D4F"/>
      </a:dk2>
      <a:lt2>
        <a:srgbClr val="F3F5FA"/>
      </a:lt2>
      <a:accent1>
        <a:srgbClr val="D9472B"/>
      </a:accent1>
      <a:accent2>
        <a:srgbClr val="1F2D4F"/>
      </a:accent2>
      <a:accent3>
        <a:srgbClr val="F2B544"/>
      </a:accent3>
      <a:accent4>
        <a:srgbClr val="3A8F6B"/>
      </a:accent4>
      <a:accent5>
        <a:srgbClr val="6B7A99"/>
      </a:accent5>
      <a:accent6>
        <a:srgbClr val="FBE7E2"/>
      </a:accent6>
      <a:hlink>
        <a:srgbClr val="D9472B"/>
      </a:hlink>
      <a:folHlink>
        <a:srgbClr val="6B7A99"/>
      </a:folHlink>
    </a:clrScheme>
    <a:fontScheme name="Japanese Assessment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일본어회화 2학기 수행평가 안내</dc:title>
  <dc:subject>PptxGenJS Presentation</dc:subject>
  <dc:creator>PptxGenJS</dc:creator>
  <cp:lastModifiedBy>PptxGenJS</cp:lastModifiedBy>
  <cp:revision>1</cp:revision>
  <dcterms:created xsi:type="dcterms:W3CDTF">2026-10-14T00:59:30Z</dcterms:created>
  <dcterms:modified xsi:type="dcterms:W3CDTF">2026-10-14T00:59:30Z</dcterms:modified>
</cp:coreProperties>
</file>